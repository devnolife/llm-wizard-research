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0:30]</a:t>
            </a:r>
          </a:p>
          <a:p/>
          <a:p>
            <a:r>
              <a:t>• Salam, perkenalan singkat, sebutkan judul lengkap.</a:t>
            </a:r>
          </a:p>
          <a:p>
            <a:r>
              <a:t>• Satu kalimat posisi: ini alat bantu keputusan, bukan pengganti peneliti — tema yang akan berulang.</a:t>
            </a:r>
          </a:p>
          <a:p>
            <a:r>
              <a:t>• Isi nama pembimbing dan tanggal sebelum sidang.</a:t>
            </a:r>
          </a:p>
          <a:p/>
          <a:p>
            <a:r>
              <a:t>→ Transisi: Mulai dari fenomena: mengapa mencari research gap itu sulit.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1:00]</a:t>
            </a:r>
          </a:p>
          <a:p/>
          <a:p>
            <a:r>
              <a:t>• Tekankan pola FENOMENA → KESENJANGAN (respons kritik #1 penguji: rumusan masalah harus berupa masalah, bukan spesifikasi teknis).</a:t>
            </a:r>
          </a:p>
          <a:p>
            <a:r>
              <a:t>• Fenomena: sintesis literatur adalah penalaran induktif; alat yang ada beroperasi di level semantik.</a:t>
            </a:r>
          </a:p>
          <a:p>
            <a:r>
              <a:t>• Kesenjangan: belum ada bukti empiris sejauh mana pendekatan agentic+simbolis mampu.</a:t>
            </a:r>
          </a:p>
          <a:p/>
          <a:p>
            <a:r>
              <a:t>→ Transisi: Kesenjangan itu diturunkan menjadi tiga pertanyaan penelitian.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1:15]</a:t>
            </a:r>
          </a:p>
          <a:p/>
          <a:p>
            <a:r>
              <a:t>• Baca RQ dengan kata kunci 'Sejauh mana' — bukan 'Bagaimana merancang' (revisi atas kritik penguji).</a:t>
            </a:r>
          </a:p>
          <a:p>
            <a:r>
              <a:t>• RQ3 sengaja ada: mengakui batas kemampuan sistem adalah kontribusi ilmiah, bukan kelemahan.</a:t>
            </a:r>
          </a:p>
          <a:p>
            <a:r>
              <a:t>• Definisi synthesis gap mengikuti literatur mainstream (respons kritik #2).</a:t>
            </a:r>
          </a:p>
          <a:p/>
          <a:p>
            <a:r>
              <a:t>→ Transisi: Untuk menjawabnya kami membangun sistem dengan empat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1:00]</a:t>
            </a:r>
          </a:p>
          <a:p/>
          <a:p>
            <a:r>
              <a:t>• Ini respons langsung atas kritik #4 (RAG+LLM bukan hal baru): kebaruan digeser ke integrasi neural + simbolik, bukan sekadar pipeline.</a:t>
            </a:r>
          </a:p>
          <a:p>
            <a:r>
              <a:t>• Baris 'validasi' dan 'semantik vs logis' menjawab kritik #5 dan #6.</a:t>
            </a:r>
          </a:p>
          <a:p>
            <a:r>
              <a:t>• Baris terakhir: posisi epistemologis — kita hanya mengklaim indikator.</a:t>
            </a:r>
          </a:p>
          <a:p/>
          <a:p>
            <a:r>
              <a:t>→ Transisi: Mari lihat arsitekturnya.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1:15]</a:t>
            </a:r>
          </a:p>
          <a:p/>
          <a:p>
            <a:r>
              <a:t>• Jalankan satu 'permintaan' dari kiri ke kanan: PDF masuk, fakta diekstrak, agen berputar Observe-Think-Act-Evaluate, Rule Engine memvalidasi.</a:t>
            </a:r>
          </a:p>
          <a:p>
            <a:r>
              <a:t>• Tekankan Fase 4 sebagai komponen baru hasil revisi (kritik #7: diagram jangan black box).</a:t>
            </a:r>
          </a:p>
          <a:p/>
          <a:p>
            <a:r>
              <a:t>→ Transisi: Dua komponen simbolik inti: Fact Table dan Rule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1:30]</a:t>
            </a:r>
          </a:p>
          <a:p/>
          <a:p>
            <a:r>
              <a:t>• Respons kritik #8 (KG tanpa tabel fakta): KG kini Fact Base dengan ontologi eksplisit.</a:t>
            </a:r>
          </a:p>
          <a:p>
            <a:r>
              <a:t>• Contoh aturan konkret: F1 — metode butuh GPU besar tapi domain edge device → REJECT.</a:t>
            </a:r>
          </a:p>
          <a:p>
            <a:r>
              <a:t>• Jelaskan bahwa verdict masuk ke kalibrasi, bukan dirata-ratakan.</a:t>
            </a:r>
          </a:p>
          <a:p/>
          <a:p>
            <a:r>
              <a:t>→ Transisi: Bagaimana sistem membedakan 'sering muncul bersama' dari 'benar-benar berhubungan'?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1:15]</a:t>
            </a:r>
          </a:p>
          <a:p/>
          <a:p>
            <a:r>
              <a:t>• Ini jawaban desain untuk RQ2 dan kritik #5.</a:t>
            </a:r>
          </a:p>
          <a:p>
            <a:r>
              <a:t>• Sebut bahwa NLI adalah sinyal independen yang nanti diuji ablasi (H9).</a:t>
            </a:r>
          </a:p>
          <a:p>
            <a:r>
              <a:t>• Kopling bibliografis dan korroborasi penulis: tambahan pasca-revisi, keduanya tidak bergantung pada LLM.</a:t>
            </a:r>
          </a:p>
          <a:p/>
          <a:p>
            <a:r>
              <a:t>→ Transisi: Terakhir dari metode: bagaimana keyakinan dilaporkan secara jujur.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0:45]</a:t>
            </a:r>
          </a:p>
          <a:p/>
          <a:p>
            <a:r>
              <a:t>• Tiga hal ini yang membedakan 'indikator' dari 'klaim': bisa ditelusuri, terkalibrasi, dan dilaporkan dengan sebaran.</a:t>
            </a:r>
          </a:p>
          <a:p>
            <a:r>
              <a:t>• Tekankan: kalibrator sengaja identitas sebelum ada label pakar dan status itu ditampilkan di antarmuka.</a:t>
            </a:r>
          </a:p>
          <a:p/>
          <a:p>
            <a:r>
              <a:t>→ Transisi: Sekarang desain eksperimennya.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1:15]</a:t>
            </a:r>
          </a:p>
          <a:p/>
          <a:p>
            <a:r>
              <a:t>• Jelaskan mengapa dua rezim dan mengapa TIDAK dibandingkan silang: model lokal untuk seed/ulangan; model penyedia untuk bahasa Indonesia.</a:t>
            </a:r>
          </a:p>
          <a:p>
            <a:r>
              <a:t>• Sebut angka: 14 metrik, 10 hipotesis, 1 kontrol negatif.</a:t>
            </a:r>
          </a:p>
          <a:p/>
          <a:p>
            <a:r>
              <a:t>→ Transisi: Hasil pertama: apakah keempat indikator terdeteksi dan apakah Rule Engine benar-benar menyaring.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1:15]</a:t>
            </a:r>
          </a:p>
          <a:p/>
          <a:p>
            <a:r>
              <a:t>• Angka utama: 14 indikator, 248 fakta, 100% PASS — lalu segera jawab keraguan yang pasti muncul: 'apakah Rule Engine bekerja?' dengan adversarial 6/6.</a:t>
            </a:r>
          </a:p>
          <a:p>
            <a:r>
              <a:t>• Sebut bahwa PASS 100% bukan sifat tetap (multi-run RERR 3,8%).</a:t>
            </a:r>
          </a:p>
          <a:p/>
          <a:p>
            <a:r>
              <a:t>→ Transisi: Komponen mana yang benar-benar berkontribusi? Ablasi multi-run.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1:30]</a:t>
            </a:r>
          </a:p>
          <a:p/>
          <a:p>
            <a:r>
              <a:t>• Baca grafik dari atas: baseline linear menghasilkan LEBIH BANYAK indikator (20) tetapi tanpa fakta, verdict, dan jejak — dan identik antar topik (template).</a:t>
            </a:r>
          </a:p>
          <a:p>
            <a:r>
              <a:t>• H9: NLI menambah 8 indikator/run dan menaikkan confidence, p Holm 0,043 setelah koreksi 8 uji.</a:t>
            </a:r>
          </a:p>
          <a:p>
            <a:r>
              <a:t>• H6/H7 tidak signifikan: jujur katakan power kecil (5 run) dan efek Rule Engine bukan kuantitas.</a:t>
            </a:r>
          </a:p>
          <a:p>
            <a:r>
              <a:t>• H10: kritikus model berbeda menolak 85,6% kandidat.</a:t>
            </a:r>
          </a:p>
          <a:p/>
          <a:p>
            <a:r>
              <a:t>→ Transisi: Kalau kritikus begitu agresif — apakah sistem masih bisa tertipu topik fiktif?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1:15]</a:t>
            </a:r>
          </a:p>
          <a:p/>
          <a:p>
            <a:r>
              <a:t>• Ini slide kejujuran: sistem TIDAK sempurna dan kami menemukannya sendiri.</a:t>
            </a:r>
          </a:p>
          <a:p>
            <a:r>
              <a:t>• Satu false gap berkeyakinan tinggi adalah argumen empiris terkuat untuk rantai provenans.</a:t>
            </a:r>
          </a:p>
          <a:p>
            <a:r>
              <a:t>• Kontrol negatif baru dijalankan pada mode cross-critic — keterbatasan yang dicatat.</a:t>
            </a:r>
          </a:p>
          <a:p/>
          <a:p>
            <a:r>
              <a:t>→ Transisi: Sekarang sistem lengkap pada dokumen nyata berbahasa Indonesia.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1:45]</a:t>
            </a:r>
          </a:p>
          <a:p/>
          <a:p>
            <a:r>
              <a:t>• Tiga sinyal independen menunjuk fragmentasi yang sama: kopling (daftar pustaka), isolasi (embedding), peta cakupan.</a:t>
            </a:r>
          </a:p>
          <a:p>
            <a:r>
              <a:t>• Indikator ke-4 (support gap) muncul pertama kali pada versi akhir; usulan yang berjangkar padanya naik ke prioritas high.</a:t>
            </a:r>
          </a:p>
          <a:p>
            <a:r>
              <a:t>• Korroborasi penulis 2/2 indikator yang dapat dikorroborasi — sebagai bukti, confidence tidak berubah.</a:t>
            </a:r>
          </a:p>
          <a:p>
            <a:r>
              <a:t>• Waktu ~12 menit untuk 35 jurnal; LLM Copilot.</a:t>
            </a:r>
          </a:p>
          <a:p/>
          <a:p>
            <a:r>
              <a:t>→ Transisi: Seberapa stabil temuan yang bergantung pada LLM?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1:00]</a:t>
            </a:r>
          </a:p>
          <a:p/>
          <a:p>
            <a:r>
              <a:t>• Pesan: reproducibility diukur, bukan diasumsikan. 58% stabil; gap implisit paling rapuh (41%).</a:t>
            </a:r>
          </a:p>
          <a:p>
            <a:r>
              <a:t>• Ini juga menjelaskan mengapa semua temuan LLM dilaporkan dengan k/n.</a:t>
            </a:r>
          </a:p>
          <a:p/>
          <a:p>
            <a:r>
              <a:t>→ Transisi: Sekarang pemetaan jujur: hipotesis mana yang terbukti, mana yang belum.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1:30]</a:t>
            </a:r>
          </a:p>
          <a:p/>
          <a:p>
            <a:r>
              <a:t>• Slide ini sengaja ada agar penguji melihat kami memetakan janji BAB III ke bukti BAB IV tanpa menyembunyikan apa pun.</a:t>
            </a:r>
          </a:p>
          <a:p>
            <a:r>
              <a:t>• Jelaskan: H1–H2 berasal dari proposal awal; setelah revisi arsitektur pertanyaannya dijawab H6/H7/H9.</a:t>
            </a:r>
          </a:p>
          <a:p/>
          <a:p>
            <a:r>
              <a:t>→ Transisi: Dengan peta itu, jawaban atas tiga RQ.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1:30]</a:t>
            </a:r>
          </a:p>
          <a:p/>
          <a:p>
            <a:r>
              <a:t>• Jawab setiap RQ dalam dua kalimat: apa yang terbukti, apa batasnya.</a:t>
            </a:r>
          </a:p>
          <a:p>
            <a:r>
              <a:t>• Tutup RQ3 dengan posisi sistem — konsisten dengan slide pertama.</a:t>
            </a:r>
          </a:p>
          <a:p/>
          <a:p>
            <a:r>
              <a:t>→ Transisi: Kontribusi yang bisa dibawa pulang.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1:00]</a:t>
            </a:r>
          </a:p>
          <a:p/>
          <a:p>
            <a:r>
              <a:t>• Tujuh kontribusi; tiga pertama adalah respons langsung revisi penguji, empat berikutnya lahir dari pengujian pada korpus nyata.</a:t>
            </a:r>
          </a:p>
          <a:p/>
          <a:p>
            <a:r>
              <a:t>→ Transisi: Apa yang TIDAK kami klaim, dan apa langkah berikutnya.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1:15]</a:t>
            </a:r>
          </a:p>
          <a:p/>
          <a:p>
            <a:r>
              <a:t>• Katakan dengan tenang apa yang belum: evaluasi pakar. Lalu tunjukkan bahwa semua prasyaratnya sudah siap.</a:t>
            </a:r>
          </a:p>
          <a:p>
            <a:r>
              <a:t>• Saran disusun dari yang paling mendesak.</a:t>
            </a:r>
          </a:p>
          <a:p/>
          <a:p>
            <a:r>
              <a:t>→ Transisi: Penutup.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0:15]</a:t>
            </a:r>
          </a:p>
          <a:p/>
          <a:p>
            <a:r>
              <a:t>• Ucapkan terima kasih; siap menerima pertanyaan.</a:t>
            </a:r>
          </a:p>
          <a:p>
            <a:r>
              <a:t>• Slide berikutnya adalah cadangan untuk Q&amp;A — jangan ditampilkan kecuali ditanya.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—]</a:t>
            </a:r>
          </a:p>
          <a:p/>
          <a:p>
            <a:r>
              <a:t>• Peta cadangan; lompat ke slide sesuai pertanyaan.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—]</a:t>
            </a:r>
          </a:p>
          <a:p/>
          <a:p>
            <a:r>
              <a:t>• Jawab tanpa defensif: ini keterbatasan waktu &amp; akses, bukan desain. Tunjukkan prasyaratnya lengkap.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—]</a:t>
            </a:r>
          </a:p>
          <a:p/>
          <a:p>
            <a:r>
              <a:t>• Intinya: pemisahan disengaja dan diumumkan, bukan kebetulan.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—]</a:t>
            </a:r>
          </a:p>
          <a:p/>
          <a:p>
            <a:r>
              <a:t>• Pertanyaan ini hampir pasti muncul. Kunci: adversarial + RERR multi-run + peran dalam kalibrasi.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—]</a:t>
            </a:r>
          </a:p>
          <a:p/>
          <a:p>
            <a:r>
              <a:t>• Definisi Cooper/Booth (kritik #2) dan pembedaan tegas indikator 3 vs 4 (BAB III 3.6.1).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—]</a:t>
            </a:r>
          </a:p>
          <a:p/>
          <a:p>
            <a:r>
              <a:t>• Gunakan bila ditanya soal kualitas rekayasa atau 'apakah hasil bisa dipercaya'. Menemukan cacat sendiri = kredibilitas.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—]</a:t>
            </a:r>
          </a:p>
          <a:p/>
          <a:p>
            <a:r>
              <a:t>• Penguji yang sama kemungkinan mengecek konsistensi revisi; slide ini menunjukkan setiap kritik punya jejak di bab 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—]</a:t>
            </a:r>
          </a:p>
          <a:p/>
          <a:p>
            <a:r>
              <a:t>• Bila ditanya 'apa kelemahan terbesar?', jawab: evaluasi pakar tertunda dan stokastisitas — keduanya sudah diukur/dimitigasi, bukan diabaikan.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[Waktu: —]</a:t>
            </a:r>
          </a:p>
          <a:p/>
          <a:p>
            <a:r>
              <a:t>• Bila ditanya 'bisa diulang?': ya — sebut seed, berkas, dan endpoint reanalyze.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7315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899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CFD8E3"/>
                </a:solidFill>
                <a:latin typeface="Calibri"/>
              </a:rPr>
              <a:t>SIDANG TESIS MAGISTER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Pendekatan Neuro-Symbolic Agentic untuk Deteksi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Indikator Synthesis Gap pada Literatur Ilmiah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78992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E5E7EB"/>
                </a:solidFill>
                <a:latin typeface="Calibri"/>
              </a:rPr>
              <a:t>Wizard Research — sistem bantu keputusan yang menggabungkan penalaran LLM dengan validasi berbasis aturan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640080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Andi Agung Dwi Arya B — D082251054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Program Studi Magister Teknik Informatika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Fakultas Teknik, Universitas Hasanuddin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480560"/>
            <a:ext cx="420624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CFD8E3"/>
                </a:solidFill>
                <a:latin typeface="Calibri"/>
              </a:rPr>
              <a:t>Pembimbing: [nama pembimbing 1]</a:t>
            </a:r>
          </a:p>
          <a:p>
            <a:pPr algn="l"/>
            <a:r>
              <a:rPr sz="1500" b="0">
                <a:solidFill>
                  <a:srgbClr val="CFD8E3"/>
                </a:solidFill>
                <a:latin typeface="Calibri"/>
              </a:rPr>
              <a:t>[nama pembimbing 2]</a:t>
            </a:r>
          </a:p>
          <a:p>
            <a:pPr algn="l"/>
            <a:r>
              <a:rPr sz="1500" b="0">
                <a:solidFill>
                  <a:srgbClr val="CFD8E3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CFD8E3"/>
                </a:solidFill>
                <a:latin typeface="Calibri"/>
              </a:rPr>
              <a:t>Makassar, [tanggal sidang]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Latar Belakang: Menemukan Research Gap Adalah Tugas Sintesis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11111"/>
                </a:solidFill>
                <a:latin typeface="Calibri"/>
              </a:rPr>
              <a:t>• Peneliti membaca banyak literatur, membandingkan temuan, menalar induktif, lalu menyimpulkan apa yang belum terjawab secara kolektif (Cooper, 1998; Booth et al., 2012)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11111"/>
                </a:solidFill>
                <a:latin typeface="Calibri"/>
              </a:rPr>
              <a:t>• Pipeline RAG+LLM linear (retrieve-then-generate) bekerja pada level kesamaan vektor &amp; generasi probabilistik:</a:t>
            </a:r>
          </a:p>
          <a:p>
            <a:pPr lvl="1">
              <a:spcAft>
                <a:spcPts val="200"/>
              </a:spcAft>
            </a:pPr>
            <a:r>
              <a:rPr sz="1700">
                <a:solidFill>
                  <a:srgbClr val="111111"/>
                </a:solidFill>
                <a:latin typeface="Calibri"/>
              </a:rPr>
              <a:t>– tanpa penalaran bertahap, tanpa validasi logis, tidak membedakan asosiasi semantik dari hubungan kausal</a:t>
            </a:r>
          </a:p>
          <a:p>
            <a:pPr lvl="1">
              <a:spcAft>
                <a:spcPts val="200"/>
              </a:spcAft>
            </a:pPr>
            <a:r>
              <a:rPr sz="1700">
                <a:solidFill>
                  <a:srgbClr val="111111"/>
                </a:solidFill>
                <a:latin typeface="Calibri"/>
              </a:rPr>
              <a:t>– rawan korelasi semu dan over-claiming (Bender &amp; Koller, 2020; Marcus &amp; Davis, 2020)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11111"/>
                </a:solidFill>
                <a:latin typeface="Calibri"/>
              </a:rPr>
              <a:t>• Paradigma agen (multi-step reasoning + rule-based validation) secara struktural lebih dekat ke proses kognitif peneliti — tetapi belum diketahui sejauh mana ia mampu, dan di mana batasnya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20640"/>
            <a:ext cx="11247120" cy="914400"/>
          </a:xfrm>
          <a:prstGeom prst="roundRect">
            <a:avLst>
              <a:gd name="adj" fmla="val 12000"/>
            </a:avLst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Kesenjangan: belum ada bukti empiris tentang kemampuan — dan batas — pendekatan agentic + validasi simbolis untuk mendeteksi indikator synthesis gap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Rumusan Masalah dan Tujuan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315200"/>
                <a:gridCol w="32004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Pertanyaan Penelitian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Tujuan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alibri"/>
                        </a:rPr>
                        <a:t>RQ1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alibri"/>
                        </a:rPr>
                        <a:t>Sejauh mana pendekatan agentic multi-step reasoning + rule-based validation mampu mendeteksi indikator synthesis gap (fragmentasi, inkonsistensi, ketidaklengkapan kolektif, ketiadaan dukungan bukti)?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alibri"/>
                        </a:rPr>
                        <a:t>Mengukur kemampuan deteksi empat indikator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alibri"/>
                        </a:rPr>
                        <a:t>Bagaimana mekanisme pembeda asosiasi semantik–hubungan logis dan rule-based validation memengaruhi akurasi dan false discovery rate?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alibri"/>
                        </a:rPr>
                        <a:t>Mengisolasi kontribusi tiap komponen (ablasi)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alibri"/>
                        </a:rPr>
                        <a:t>RQ3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alibri"/>
                        </a:rPr>
                        <a:t>Apa batasan epistemologis pendekatan ini dibandingkan penalaran logis-induktif peneliti manusia?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Calibri"/>
                        </a:rPr>
                        <a:t>Mendeskripsikan batas sistem secara eksplisit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166360"/>
            <a:ext cx="11247120" cy="91440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Definisi operasional (Cooper 1998; Booth 2012): synthesis gap = fragmentasi · inkonsistensi · ketidaklengkapan kolektif · + ketiadaan dukungan bukti (indikator ke-4, kontribusi penelitian ini)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Kebaruan: Dari Pipeline Linear ke Neuro-Symbolic Agentic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4712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566160"/>
                <a:gridCol w="53035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Aspek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Pipeline RAG+LLM biasa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Wizard Research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Alur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retrieve → generate (satu langkah)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Observe → Think → Act → Evaluate (LangGraph, maks. 3 iterasi, self-critique)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Representasi pengetahuan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embedding saja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embedding + Fact Table SPO (8 tipe entitas, 12 predikat + 2 turunan)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Validasi keluaran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tidak ada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Rule Engine 9 aturan (F1–F3, C1–C3, K1–K3) → PASS / FLAG / REJECT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Semantik vs logis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tidak dibedakan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3 lapis: penanda linguistik → analisis struktural → NLI cross-encoder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Keyakinan keluaran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skor mentah LLM, satu run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kalibrasi + abstensi selektif + rantai provenans + pelaporan k/n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Klaim epistemologis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"research gaps"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"indikator gap" yang wajib divalidasi manusia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Arsitektur Empat Fase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METODE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589520" cy="35945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371600"/>
            <a:ext cx="3749039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11111"/>
                </a:solidFill>
                <a:latin typeface="Calibri"/>
              </a:rPr>
              <a:t>• Fase 1 — Ingestion: PDF → pembersihan → seksi IMRaD → chunk sadar-kalimat → ChromaDB (embedder multibahasa + reranker)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11111"/>
                </a:solidFill>
                <a:latin typeface="Calibri"/>
              </a:rPr>
              <a:t>• Fase 2 — Fact Extraction: LLM (JSON mode + retry + salvage) + pola linguistik → triple SPO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11111"/>
                </a:solidFill>
                <a:latin typeface="Calibri"/>
              </a:rPr>
              <a:t>• Fase 3 — Agentic Analysis: koordinator LangGraph dengan 5 tool (RAG, PaperAnalyzer, NLIChecker, KGQuerier, SelfCritic)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11111"/>
                </a:solidFill>
                <a:latin typeface="Calibri"/>
              </a:rPr>
              <a:t>• Fase 4 — Logical Validation: Rule Engine atas fakta KG; verdict difusikan ke kalibrasi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Komponen Simbolik: Fact Table SPO dan Rule Engine 9 Aturan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METODE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291840"/>
                <a:gridCol w="4206240"/>
                <a:gridCol w="219456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Kategori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Aturan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Pertanyaan yang diuji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Verdict bila gagal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Kelayakan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F1 sumber daya · F2 data · F3 skala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Apakah metode layak untuk domain/kendala yang diklaim?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REJECT (F1, F3) / FLAG (F2)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Kausalitas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C1 bukti kausal · C2 arah · C3 confounding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Apakah klaim kausal punya bukti; adakah jalur alternatif di KG?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Konsistensi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K1 kontradiksi internal · K2 konsistensi fakta KG · K3 transitivitas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Apakah klaim bertentangan dengan fakta lain di Fact Table?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343400"/>
            <a:ext cx="1124712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Fact Table: (Paper_A, USES_METHOD, CNN) · (CNN, APPLIES_TO, Medical_Imaging) · (ResNet, IMPROVES, VGG) — 8 tipe entitas, 12 predikat dasar + 2 turunan (INFEASIBLE_FOR, CORRELATES_WITH)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Verdict = bukti tentang klaim, bukan pendapat kedua: PASS menguatkan (×1,10), FLAG mendiskon (×0,80), REJECT membatalkan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Validasi berjalan &lt; 0,01 detik — lapisan logis praktis tanpa overhead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Membedakan Asosiasi Semantik dari Hubungan Logis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METODE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11111"/>
                </a:solidFill>
                <a:latin typeface="Calibri"/>
              </a:rPr>
              <a:t>• Lapisan 1 — Penyaringan semantik: kandidat pasangan klaim dari kesamaan embedding &amp; ko-okurensi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11111"/>
                </a:solidFill>
                <a:latin typeface="Calibri"/>
              </a:rPr>
              <a:t>• Lapisan 2 — Ekstraksi bukti: penanda linguistik (outperforms, contradicts, is based on) + analisis struktural seksi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11111"/>
                </a:solidFill>
                <a:latin typeface="Calibri"/>
              </a:rPr>
              <a:t>• Lapisan 3 — Verifikasi: NLI cross-encoder terdedikasi (entailment / neutral / contradiction) + fakta KG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11111"/>
                </a:solidFill>
                <a:latin typeface="Calibri"/>
              </a:rPr>
              <a:t>• Adjudikasi kontradiksi vs heterogenitas: klaim dinormalisasi (arah efek, PICO) lalu diuji Cochran Q, I², τ² — beda hasil karena desain berbeda ≠ kontradiksi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11111"/>
                </a:solidFill>
                <a:latin typeface="Calibri"/>
              </a:rPr>
              <a:t>• Indikator yang hanya berasal dari asosiasi semantik selalu berlabel requires_human_validation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74920"/>
            <a:ext cx="11247120" cy="100584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Ditambah lapisan bukti bebas-LLM: kopling bibliografis (Kessler, 1963) dari daftar pustaka yang diurai, dan korroborasi pernyataan keterbatasan/future work penulis — sebagai BUKTI, bukan skor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Keyakinan yang Dapat Dipertanggungjawabkan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METODE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4712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669280"/>
                <a:gridCol w="347472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Mekanisme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Aturan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Tujuan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Rantai provenans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klaim → jurnal terkutip → kutipan verbatim → verdict; mata rantai putus → ditahan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Gap yang tak bisa ditelusuri ke kutipan bukan temuan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Kalibrasi post-hoc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temperature scaling + ambang konformal (α = 0,10); identitas sampai ≥ 4 label pakar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Keyakinan 90% harus benar ≈ 90%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Abstensi selektif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terkalibrasi &lt; 0,45 atau di bawah ambang konformal → needs_review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Menahan, bukan menyajikan, klaim lemah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Pelaporan k/n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n = 3 run identik; stabil bila muncul ≥ ⌈2n/3⌉ = 2; k/n = anotasi &amp; filter, bukan skor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Satu run LLM = satu undian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Kebaruan usulan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band derivative / sweet spot (0,25–0,65) / off-topic; hanya untuk pemeringkatan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Usulan tak berjangkar pada indikator turun prioritas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Desain Eksperimen: Dua Korpus, Dua Rezim, 14 Metrik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EVALUASI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120640"/>
                <a:gridCol w="47548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Benchmark &amp; ablasi (4.3.1–4.3.7)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Korpus aplikatif (4.3.8–4.3.11)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Korpus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23 paper CS (T1–T4: arsitektur DL, CV, NLP, edge), Inggris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35 jurnal forensika digital, Indonesia + Inggris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llama3.2 3B &amp; gpt-oss 13B (Ollama, lokal, seed)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claude-opus-4.8-fast (Copilot SDK)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Tujuan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H6, H7, H9, H10 multi-run; adversarial; kontrol negatif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sistem lengkap pada dokumen nyata: M9–M14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full · no-rule-engine · linear-baseline · nli/no-nli · cross-critic (+TC)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pipeline penuh, 2 eksekusi versi akhir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434840"/>
            <a:ext cx="11247120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11111"/>
                </a:solidFill>
                <a:latin typeface="Calibri"/>
              </a:rPr>
              <a:t>• Metrik M1–M8 (jumlah, distribusi, confidence, verdict, waktu, validasi manusia, RERR, akurasi adversarial) + M9–M14 (kalibrasi, abstensi, provenans, kebaruan, stabilitas k/n, korroborasi)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11111"/>
                </a:solidFill>
                <a:latin typeface="Calibri"/>
              </a:rPr>
              <a:t>• Statistik: satu observasi per run, Mann–Whitney U, koreksi Holm–Bonferroni (keluarga 8 uji), Cliff's δ, CI bootstrap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11111"/>
                </a:solidFill>
                <a:latin typeface="Calibri"/>
              </a:rPr>
              <a:t>• Metrik pakar (EAR, LCS, AS, FDR, SHG, REP) melalui instrumen penilaian blinded, Cohen's κ ≥ 0,6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Hasil Benchmark: Deteksi Indikator dan Bukti Rule Engine Diskriminatif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HASIL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5760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22960"/>
                <a:gridCol w="640080"/>
                <a:gridCol w="731520"/>
                <a:gridCol w="1005840"/>
                <a:gridCol w="6400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Topik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Indikator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Frag.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Inkons.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Ketidaklengkapan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T1 Deep learning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0,717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T2 Computer vision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0,688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T3 NLP &amp; attention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0,688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T4 Edge/efisien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0,717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3A5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3A5F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3A5F"/>
                          </a:solidFill>
                          <a:latin typeface="Calibri"/>
                        </a:rPr>
                        <a:t>0,700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023360"/>
            <a:ext cx="576072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11111"/>
                </a:solidFill>
                <a:latin typeface="Calibri"/>
              </a:rPr>
              <a:t>• 248 fakta SPO dari 23 paper (22/23 ≥ 1 fakta); 14 indikator, 100% PASS pada data bersih (RERR 0%)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11111"/>
                </a:solidFill>
                <a:latin typeface="Calibri"/>
              </a:rPr>
              <a:t>• Multi-run (5 run): 17,2 ± 3,2 indikator; RERR 3,8 ± 8,5% — angka satu run adalah satu realisasi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11111"/>
                </a:solidFill>
                <a:latin typeface="Calibri"/>
              </a:rPr>
              <a:t>• Inkonsistensi terlemah (0,50): selalu requires_human_validation</a:t>
            </a:r>
          </a:p>
        </p:txBody>
      </p:sp>
      <p:pic>
        <p:nvPicPr>
          <p:cNvPr id="10" name="Picture 9" descr="fig4_adversa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394960" cy="251367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0" y="5120640"/>
            <a:ext cx="5394960" cy="114300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Validasi adversarial 6/6 benar: F1/F3 → REJECT (−0,60), F2/K1/C1 → FLAG (−0,15…−0,20), kontrol → PASS. PASS 100% bukan karena engine meloloskan semua.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Ablasi Multi-Run: NLI Signifikan, Rule Engine Kualitatif, Kritikus Memangkas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HASIL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modes_multi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50" y="1280160"/>
            <a:ext cx="11590195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532120"/>
            <a:ext cx="11247120" cy="77724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H9 terkonfirmasi · H6/H7 tidak signifikan pada proksi kuantitatif (efeknya akuntabilitas &amp; penolakan adversarial) · H10 terkonfirmasi arah: 'sedikit tetapi yakin'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Kontrol Negatif: Topik yang Tidak Ada di Korpus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HASIL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crosscritic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02" y="1280160"/>
            <a:ext cx="10990891" cy="4069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486400"/>
            <a:ext cx="11247120" cy="868680"/>
          </a:xfrm>
          <a:prstGeom prst="roundRect">
            <a:avLst>
              <a:gd name="adj" fmla="val 12000"/>
            </a:avLst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4/5 run: 0 indikator palsu. 1 run: satu indikator palsu lolos LLM utama + Rule Engine + kritikus dengan confidence 0,885 → hanya syarat kutipan verbatim (provenans) yang secara prinsip menolak klaim tentang topik yang tidak 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Korpus Aplikatif 35 Jurnal Forensika Digital: Keempat Tipe Indikator Terdeteksi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HASIL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forensik_indic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889" y="1234440"/>
            <a:ext cx="7709916" cy="3703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074920"/>
            <a:ext cx="11247120" cy="1325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11111"/>
                </a:solidFill>
                <a:latin typeface="Calibri"/>
              </a:rPr>
              <a:t>• Kopling bibliografis (bebas LLM): 26 jurnal → 19 kelompok tanpa rujukan bersama; 318/325 pasangan terputus (isolasi 0,978); modularitas 0,70; 3 sitasi langsung terverifikasi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11111"/>
                </a:solidFill>
                <a:latin typeface="Calibri"/>
              </a:rPr>
              <a:t>• Ketiadaan dukungan bukti: 3 klaim pembuka diasersikan lintas jurnal tanpa satu paragraf bukti primer (kemiripan terbaik 0,00 &lt; 0,45); 1 citation echo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11111"/>
                </a:solidFill>
                <a:latin typeface="Calibri"/>
              </a:rPr>
              <a:t>• Provenans lengkap 3/4; yang ke-4 ditahan — abstensi selektif membedakan, tidak menyala untuk semua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Stabilitas Lintas-Run (M13): Angka Satu Run Adalah Satu Undian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HASIL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kn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241" y="1234440"/>
            <a:ext cx="7963212" cy="3749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11111"/>
                </a:solidFill>
                <a:latin typeface="Calibri"/>
              </a:rPr>
              <a:t>• Hanya pernyataan stabil (k ≥ 2) yang diteruskan ke korroborasi &amp; pemeringkatan; yang k = 1 disimpan dan ditampilkan sebagai tidak stabil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11111"/>
                </a:solidFill>
                <a:latin typeface="Calibri"/>
              </a:rPr>
              <a:t>• Kualitas isi terhadap gold standard eksternal (Mendeley, 30 paper): kemiripan semantik 0,603; LLM-judge 2,75/5 — menangkap topik gap, kurang spesifik dibanding kurator manusia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Status Hipotesis dan Kriteria Keberhasilan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HASIL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66928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Hipotesis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Bukti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H9 NLI menambah deteksi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Δmed = 8, p Holm 0,043, δ = 1,0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Calibri"/>
                        </a:rPr>
                        <a:t>Terkonfirmasi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H10 cross-critic memangkas indikator palsu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85,6% ditolak; Δmed = −19, p Holm 0,043; conf 0,791 → 0,884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Calibri"/>
                        </a:rPr>
                        <a:t>Terkonfirmasi (arah)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H7 Rule Engine menurunkan FDR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diskriminatif 6/6 adversarial; proksi tidak signifikan; FDR butuh pakar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77700"/>
                          </a:solidFill>
                          <a:latin typeface="Calibri"/>
                        </a:rPr>
                        <a:t>Sebagian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H6 agentic &gt; linear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kualitatif jelas; proksi p Holm ≥ 0,48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77700"/>
                          </a:solidFill>
                          <a:latin typeface="Calibri"/>
                        </a:rPr>
                        <a:t>Tidak signifikan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H3 KG → lebih didukung bukti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248 fakta + trace vs 0; provenans 3/4; korroborasi 2/2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77700"/>
                          </a:solidFill>
                          <a:latin typeface="Calibri"/>
                        </a:rPr>
                        <a:t>Kualitatif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H4 EAR ≥ 50% · H5 LCS ≥ 3,5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instrumen siap, label pakar belum terkumpul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B22222"/>
                          </a:solidFill>
                          <a:latin typeface="Calibri"/>
                        </a:rPr>
                        <a:t>Tertunda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H1, H2, H8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tak ada pembanding bermakna di sistem akhir; user study tidak dilaksanakan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B22222"/>
                          </a:solidFill>
                          <a:latin typeface="Calibri"/>
                        </a:rPr>
                        <a:t>Tidak diuji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Kontrol negatif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0,2 ± 0,45 false gap/run (cross-critic); mode lain belum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77700"/>
                          </a:solidFill>
                          <a:latin typeface="Calibri"/>
                        </a:rPr>
                        <a:t>Sebagian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623560"/>
            <a:ext cx="11247120" cy="73152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Keempat kriteria 3.7.5 (EAR ≥ 50%, LCS ≥ 3,5, FDR turun ≥ 20%, REP ≥ 70%) bergantung pada label pakar → belum dapat dinyatakan terpenuhi maupun gagal. Kriteria teknis lain terpenuhi seluruhnya.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Kesimpulan: Jawaban atas Tiga Pertanyaan Penelitian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KESIMPULAN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  <a:latin typeface="Calibri"/>
              </a:rPr>
              <a:t>• RQ1 — Sejauh mana?</a:t>
            </a:r>
          </a:p>
          <a:p>
            <a:pPr lvl="1">
              <a:spcAft>
                <a:spcPts val="200"/>
              </a:spcAft>
            </a:pPr>
            <a:r>
              <a:rPr sz="1500">
                <a:solidFill>
                  <a:srgbClr val="111111"/>
                </a:solidFill>
                <a:latin typeface="Calibri"/>
              </a:rPr>
              <a:t>– Keempat indikator terdeteksi dengan bukti yang dapat diaudit pada dua bahasa; sinyal bebas-LLM (kopling, kutipan) sebagai jangkar. Batas: 2–4 indikator/topik, 58% stabilitas k/n, inkonsistensi terlemah; Precision/Recall vs pakar belum terukur.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  <a:latin typeface="Calibri"/>
              </a:rPr>
              <a:t>• RQ2 — Pengaruh mekanisme pembeda &amp; validasi?</a:t>
            </a:r>
          </a:p>
          <a:p>
            <a:pPr lvl="1">
              <a:spcAft>
                <a:spcPts val="200"/>
              </a:spcAft>
            </a:pPr>
            <a:r>
              <a:rPr sz="1500">
                <a:solidFill>
                  <a:srgbClr val="111111"/>
                </a:solidFill>
                <a:latin typeface="Calibri"/>
              </a:rPr>
              <a:t>– NLI menaikkan deteksi signifikan (H9); Rule Engine diskriminatif (6/6) dan verdict-nya mengatur kalibrasi &amp; abstensi; kritikus lintas-model memangkas 85,6% kandidat (H10); false-gap 0,2/run. Besaran penurunan FDR menunggu label pakar.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3A5F"/>
                </a:solidFill>
                <a:latin typeface="Calibri"/>
              </a:rPr>
              <a:t>• RQ3 — Batasan epistemologis?</a:t>
            </a:r>
          </a:p>
          <a:p>
            <a:pPr lvl="1">
              <a:spcAft>
                <a:spcPts val="200"/>
              </a:spcAft>
            </a:pPr>
            <a:r>
              <a:rPr sz="1500">
                <a:solidFill>
                  <a:srgbClr val="111111"/>
                </a:solidFill>
                <a:latin typeface="Calibri"/>
              </a:rPr>
              <a:t>– Mendeteksi, tidak menilai kebermaknaan · deduksi terbatas pada fakta yang terekstrak · stokastisitas adalah sifat (k/n) · sinyal paling sederhana paling andal · tidak menjelaskan 'mengapa'. Posisi: decision support tool.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Kontribusi Penelitian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KESIMPULAN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11111"/>
                </a:solidFill>
                <a:latin typeface="Calibri"/>
              </a:rPr>
              <a:t>• Rule-Based Validation Layer — 9 aturan, 3 verdict, independen dari LLM, &lt; 0,01 s, diskriminatif (adversarial 6/6)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11111"/>
                </a:solidFill>
                <a:latin typeface="Calibri"/>
              </a:rPr>
              <a:t>• Fact Table SPO — 8 tipe entitas, 12 + 2 predikat; grounding klaim pada fakta terstruktur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11111"/>
                </a:solidFill>
                <a:latin typeface="Calibri"/>
              </a:rPr>
              <a:t>• Operasionalisasi empat indikator synthesis gap, termasuk indikator baru: ketiadaan dukungan bukti (uji kegagalan retrieval leave-one-out)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11111"/>
                </a:solidFill>
                <a:latin typeface="Calibri"/>
              </a:rPr>
              <a:t>• Sinyal fragmentasi bebas-LLM via kopling bibliografis dari daftar pustaka yang diurai (isolasi 0,978 pada korpus forensik)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11111"/>
                </a:solidFill>
                <a:latin typeface="Calibri"/>
              </a:rPr>
              <a:t>• Rantai provenans + kalibrasi + abstensi selektif sebagai satu kesatuan — terbukti diskriminatif (1/4 ditahan)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11111"/>
                </a:solidFill>
                <a:latin typeface="Calibri"/>
              </a:rPr>
              <a:t>• Lapisan korroborasi pernyataan penulis sebagai bukti (bukan gap, bukan skor)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11111"/>
                </a:solidFill>
                <a:latin typeface="Calibri"/>
              </a:rPr>
              <a:t>• Protokol pelaporan k/n untuk temuan bergantung-LLM, dengan bukti empirisnya (58,1% stabil; Jaccard 0,45–0,65)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Batas Klaim dan Saran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KESIMPULAN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577840" cy="2377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B22222"/>
                </a:solidFill>
                <a:latin typeface="Calibri"/>
              </a:rPr>
              <a:t>• Penelitian ini TIDAK menyimpulkan:</a:t>
            </a:r>
          </a:p>
          <a:p>
            <a:pPr lvl="1">
              <a:spcAft>
                <a:spcPts val="200"/>
              </a:spcAft>
            </a:pPr>
            <a:r>
              <a:rPr sz="1300">
                <a:solidFill>
                  <a:srgbClr val="111111"/>
                </a:solidFill>
                <a:latin typeface="Calibri"/>
              </a:rPr>
              <a:t>– indikator = genuine gap (EAR/LCS/AS/FDR/SHG/REP belum diukur); ECE/Brier/AURC (kalibrator identitas); perbandingan silang dua rezim LLM; H1/H2/H8 teruji; false-gap sistem lengkap ≈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57784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E7D32"/>
                </a:solidFill>
                <a:latin typeface="Calibri"/>
              </a:rPr>
              <a:t>• Prioritas segera:</a:t>
            </a:r>
          </a:p>
          <a:p>
            <a:pPr lvl="1">
              <a:spcAft>
                <a:spcPts val="200"/>
              </a:spcAft>
            </a:pPr>
            <a:r>
              <a:rPr sz="1200">
                <a:solidFill>
                  <a:srgbClr val="111111"/>
                </a:solidFill>
                <a:latin typeface="Calibri"/>
              </a:rPr>
              <a:t>– Sesi ≥ 2 pakar forensik (blinded; κ ≥ 0,6) — formulir siap dari keluaran final: 4 indikator forensik + 18 benchmark</a:t>
            </a:r>
          </a:p>
          <a:p>
            <a:pPr lvl="1">
              <a:spcAft>
                <a:spcPts val="200"/>
              </a:spcAft>
            </a:pPr>
            <a:r>
              <a:rPr sz="1200">
                <a:solidFill>
                  <a:srgbClr val="111111"/>
                </a:solidFill>
                <a:latin typeface="Calibri"/>
              </a:rPr>
              <a:t>– Aktifkan kalibrasi &amp; laporkan ECE/Brier/AURC setelah ≥ 4 label</a:t>
            </a:r>
          </a:p>
          <a:p>
            <a:pPr lvl="1">
              <a:spcAft>
                <a:spcPts val="200"/>
              </a:spcAft>
            </a:pPr>
            <a:r>
              <a:rPr sz="1200">
                <a:solidFill>
                  <a:srgbClr val="111111"/>
                </a:solidFill>
                <a:latin typeface="Calibri"/>
              </a:rPr>
              <a:t>– Kontrol negatif pada semua mode; user study H8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E7D32"/>
                </a:solidFill>
                <a:latin typeface="Calibri"/>
              </a:rPr>
              <a:t>• Pengembangan:</a:t>
            </a:r>
          </a:p>
          <a:p>
            <a:pPr lvl="1">
              <a:spcAft>
                <a:spcPts val="200"/>
              </a:spcAft>
            </a:pPr>
            <a:r>
              <a:rPr sz="1200">
                <a:solidFill>
                  <a:srgbClr val="111111"/>
                </a:solidFill>
                <a:latin typeface="Calibri"/>
              </a:rPr>
              <a:t>– satu jalur validasi; sensitivitas ambang aturan; NLI &amp; reranker multibahasa; cakupan fakta SPO ke seluruh korpus; 50–100 jurnal per domain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5577840" cy="137160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Instrumen evaluasi pakar sudah lengkap dan teruji: formulir XLSX, kalkulator metrik + Cohen's κ, kalibrator otomatis aktif setelah ≥ 4 label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899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0">
                <a:solidFill>
                  <a:srgbClr val="E5E7EB"/>
                </a:solidFill>
                <a:latin typeface="Calibri"/>
              </a:rPr>
              <a:t>Sistem adalah alat bantu keputusan: mempersempit ruang pencarian dan menyediakan bukti yang dapat diaudit —</a:t>
            </a:r>
          </a:p>
          <a:p>
            <a:pPr algn="l"/>
            <a:r>
              <a:rPr sz="2000" b="0">
                <a:solidFill>
                  <a:srgbClr val="E5E7EB"/>
                </a:solidFill>
                <a:latin typeface="Calibri"/>
              </a:rPr>
              <a:t>penilaian induktif tetap pada peneliti.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78992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0">
                <a:solidFill>
                  <a:srgbClr val="CFD8E3"/>
                </a:solidFill>
                <a:latin typeface="Calibri"/>
              </a:rPr>
              <a:t>Kode &amp; data: github.com/devnolife/llm-wizard-research</a:t>
            </a:r>
          </a:p>
          <a:p>
            <a:pPr algn="l"/>
            <a:r>
              <a:rPr sz="1600" b="0">
                <a:solidFill>
                  <a:srgbClr val="CFD8E3"/>
                </a:solidFill>
                <a:latin typeface="Calibri"/>
              </a:rPr>
              <a:t>894 unit test · 14 metrik · 2 korpus · 10 hipotesis dipetakan ke bukti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Slide Cadangan untuk Tanya-Jawab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CADANGAN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4663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11111"/>
                </a:solidFill>
                <a:latin typeface="Calibri"/>
              </a:rPr>
              <a:t>• C1 — Mengapa evaluasi pakar belum dilakukan, dan apa dampaknya?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11111"/>
                </a:solidFill>
                <a:latin typeface="Calibri"/>
              </a:rPr>
              <a:t>• C2 — Mengapa dua LLM berbeda; bukankah itu mencampur variabel?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11111"/>
                </a:solidFill>
                <a:latin typeface="Calibri"/>
              </a:rPr>
              <a:t>• C3 — Mengapa Rule Engine PASS 100%? Apakah ia berguna?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11111"/>
                </a:solidFill>
                <a:latin typeface="Calibri"/>
              </a:rPr>
              <a:t>• C4 — Apa beda inkonsistensi vs heterogenitas; ketidaklengkapan vs ketiadaan dukungan bukti?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11111"/>
                </a:solidFill>
                <a:latin typeface="Calibri"/>
              </a:rPr>
              <a:t>• C5 — Cacat yang ditemukan sendiri (dan diperbaiki) — bukti kejujuran metodologis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11111"/>
                </a:solidFill>
                <a:latin typeface="Calibri"/>
              </a:rPr>
              <a:t>• C6 — Respons terhadap 8 kritik penguji pada proposal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11111"/>
                </a:solidFill>
                <a:latin typeface="Calibri"/>
              </a:rPr>
              <a:t>• C7 — Ancaman validitas: kontaminasi pre-training, korpus kecil, non-determinisme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11111"/>
                </a:solidFill>
                <a:latin typeface="Calibri"/>
              </a:rPr>
              <a:t>• C8 — Reproduksibilitas: berkas, seed, dan cara menjalankan ulang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C1 · Mengapa Evaluasi Pakar Belum Dilakukan?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CADANGAN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4663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Urutan yang benar: pakar menilai keluaran FINAL sistem, bukan versi tengah. Versi akhir (korroborasi, kopling dalam pipeline, perbaikan fusi verdict–kalibrasi) baru stabil September 2026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Instrumen sudah lengkap dan teruji: formulir XLSX blinded (label genuine/trivial/illogical/already addressed, LCS, AS, peringkat, justifikasi REJECT), kalkulator EAR/FDR/LCS/AS/SHG/REP + Cohen's κ, kalibrator aktif otomatis ≥ 4 label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Dampak dinyatakan eksplisit di BAB IV 4.4.5 &amp; BAB V 5.1.3: keempat kriteria keberhasilan belum dapat dinyatakan terpenuhi maupun gagal; ECE/Brier/AURC belum dilaporkan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Yang SUDAH terbukti tanpa pakar: deteksi dengan bukti terverifikasi, diskriminasi adversarial 6/6, signifikansi H9 &amp; H10, false-gap 0,2/run, provenans 100%, stabilitas k/n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Rencana: 2–3 pakar forensika digital, union beberapa run agar himpunan cukup besar, gold standard pakar sebelum melihat keluaran → recall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C2 · Mengapa Dua LLM Berbeda?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CADANGAN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840480"/>
                <a:gridCol w="39319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Kebutuhan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Ollama (llama3.2 / gpt-oss)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Copilot SDK (claude-opus-4.8-fast)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Seed &amp; pengulangan untuk uji statistik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ya — 5–7 run per mode, seed 43–49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tidak dijamin deterministik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Dokumen berbahasa Indonesia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lemah pada model 3B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memadai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Biaya/kecepatan untuk ratusan run ablasi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lokal, gratis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kuota penyedia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Dipakai untuk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H6, H7, H9, H10, adversarial, kontrol negatif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Calibri"/>
                        </a:rPr>
                        <a:t>korpus aplikatif 35 jurnal (M9–M14)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11111"/>
                </a:solidFill>
                <a:latin typeface="Calibri"/>
              </a:rPr>
              <a:t>• Angka kedua kelompok TIDAK dibandingkan silang (BAB IV 4.2.5, keterbatasan 8); tiap kesimpulan sahih di dalam kelompoknya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11111"/>
                </a:solidFill>
                <a:latin typeface="Calibri"/>
              </a:rPr>
              <a:t>• Sensitivitas model diamati langsung: model reasoning (gpt-oss) gagal pada JSON mode → mekanisme fallback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11111"/>
                </a:solidFill>
                <a:latin typeface="Calibri"/>
              </a:rPr>
              <a:t>• Stabilitas pada model penyedia diukur empiris lewat k/n (3 run) dan 2 eksekusi versi akhir (3 dari 4 indikator muncul di keduanya)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C3 · Rule Engine PASS 100% — Berguna?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CADANGAN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4663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PASS 100% pada data bersih adalah sifat INPUT (paper berkualitas tinggi), bukan bukti engine lemah — dibuktikan adversarial 6/6 (REJECT F1/F3, FLAG F2/K1/C1, PASS kontrol) dengan penurunan confidence bertingkat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Multi-run: RERR full 3,8 ± 8,5% — pada satu dari lima run engine menandai indikator; PASS 100% bukan sifat tetap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Kontribusi utama Rule Engine kualitatif: verdict menjadi bukti dalam kalibrasi (PASS ×1,10 / FLAG ×0,80 / REJECT batal), jejak aturan yang terpicu masuk provenans, dan ia menolak klaim adversarial yang lolos LLM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Batas yang diakui (RQ3): engine hanya menalar atas fakta yang terekstrak; klaim tanpa entitas KG lolos secara default — karena itu cakupan fakta menjadi saran pengembangan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H7 (FDR turun ≥ 20%) menunggu label pakar; proksi jumlah indikator tidak signifikan (power kecil, 5 run)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C4 · Definisi yang Sering Dipertanyakan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CADANGAN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2926080"/>
                <a:gridCol w="3108960"/>
              </a:tblGrid>
              <a:tr h="8686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Pasangan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Yang satu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Yang lain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Cara sistem membedakan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Inkonsistensi vs heterogenitas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temuan bertentangan pada klaim yang sebanding (arah efek berlawanan)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hasil berbeda karena desain/populasi berbeda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normalisasi klaim (arah, PICO) → NLI → Cochran Q, I², τ²; desain berbeda → bukan kontradiksi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Ketidaklengkapan vs ketiadaan dukungan bukti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aspek kritis TIDAK dibahas satu pun jurnal (sel kosong peta bukti)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aspek DIBAHAS &amp; DIKLAIM berulang, tetapi tanpa bukti primer yang dapat ditemukan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peta cakupan aspek vs uji kegagalan retrieval leave-one-out (&lt; 0,45) + citation echo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Fragmentasi semantik vs struktural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klaster embedding terpisah (isolasi 0,82)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jurnal tidak berbagi rujukan &amp; tidak saling mengutip (kopling 0,978)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dua sinyal independen; struktural bebas LLM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Korroborasi penulis vs gap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keterbatasan/future work yang ditulis penulis = pernyataan satu penulis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synthesis gap = klaim lintas-paper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korroborasi hanya BUKTI untuk indikator; tidak pernah menjadi indikator atau skor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C5 · Cacat yang Ditemukan Sendiri — dan Diperbaiki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CADANGAN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3108960"/>
                <a:gridCol w="338328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Cacat (silent, hanya terlihat pada korpus nyata)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Akibat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Perbaikan + uji regresi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Asimetri istilah grounding vs kutipan (frasa panjang lolos grounding, tak pernah dikutip)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semua indikator dipaksa needs_review (abstensi tidak diskriminatif)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satu fungsi aspect_terms() untuk keduanya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Indikator metodologis tanpa kutipan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rantai provenans putus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kalimat penyebut metode dijadikan bukti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Peta bukti degeneratif 1×1 (100% terisi) tetap memancarkan indikator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non-temuan disajikan sebagai gap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gate ≥ 2×2 dan wajib ≥ 1 sel kosong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Verdict final PASS tetapi kalibrasi memakai diskon FLAG ×0,80 (Rule Engine berjalan dua kali dengan pengait fakta berbeda)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rekaman bertentangan dengan dirinya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koordinator memfusikan ulang verdict final ke kalibrasi, abstensi, provenans; 4 uji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486400"/>
            <a:ext cx="11247120" cy="82296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Pelajaran metodologis (BAB IV 4.4.3 butir 7): uji sintetis dengan data ideal tidak memadai untuk lapisan provenans; kini 35 + 4 uji regresi berbentuk data produksi; total 894 uji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C6 · Respons terhadap 8 Kritik Penguji pada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CADANGAN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68580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Kritik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Respons dalam tesis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Rumusan masalah bukan 'masalah'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pola fenomena → kesenjangan → pertanyaan; 'Sejauh mana…' (BAB I 1.2)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Definisi synthesis gap tidak mainstream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Cooper (1998) &amp; Booth (2012): fragmentasi, inkonsistensi, ketidaklengkapan (+ dukungan bukti)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Batas kemampuan LLM tidak diakui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BAB I 1.5 Batasan Epistemologis; RQ3; posisi decision support tool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RAG+LLM bukan hal baru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Neuro-Symbolic Agentic: agen + Fact Table + Rule Engine + kalibrasi/provenans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Tak bisa bedakan semantik vs logis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mekanisme 3 lapis + NLI; H9 terkonfirmasi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Perlu Rule-Based Validation Layer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9 aturan / 3 verdict; adversarial 6/6; fusi ke kalibrasi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Diagram linear &amp; black box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4 fase + loop Observe–Think–Act–Evaluate; reasoning trace per indikator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KG tanpa Tabel Fakta SPO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11111"/>
                          </a:solidFill>
                          <a:latin typeface="Calibri"/>
                        </a:rPr>
                        <a:t>ontologi eksplisit: 8 entitas, 12 + 2 predikat; contoh transformasi teks → SPO (BAB III 3.5)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C7 · Ancaman Validitas yang Diakui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CADANGAN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46634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Kontaminasi pre-training: paper benchmark (Transformer, BERT, ResNet) hampir pasti ada di data latih LLM → indikator bisa dari pengetahuan parametrik; mitigasi: grounding RAG, kutipan verbatim, validasi simbolis, dan korpus aplikatif lokal (jurnal Indonesia)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Korpus kecil &amp; indikator sedikit (2–4/topik): evaluasi statistik per korpus lemah → protokol multi-run dan union k/n; saran 50–100 jurnal/domain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Non-determinisme: Jaccard antar-run 0,45–0,65; kritikus LLM stokastik (1–11 indikator akhir) → semua temuan LLM dilaporkan dengan k/n; angka satu run = realisasi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Heterogenitas LLM antar rezim: tidak dibandingkan silang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Kontrol negatif hanya pada cross-critic; 1 false gap berkeyakinan 0,885 lolos → provenans sebagai pertahanan terakhir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11111"/>
                </a:solidFill>
                <a:latin typeface="Calibri"/>
              </a:rPr>
              <a:t>• Aspek parametrik ditandai: 1 dari 10 aspek 'tak dibahas' pada korpus forensik tidak ber-grounding korpus dan dilabeli parametrik, bukan disembunyikan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"/>
            <a:ext cx="9966960" cy="8412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C8 · Reproduksibilitas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82880"/>
            <a:ext cx="1645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CFD8E3"/>
                </a:solidFill>
                <a:latin typeface="Calibri"/>
              </a:rPr>
              <a:t>CADANGAN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0515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Sidang Tesis — Andi Agung Dwi Arya B (D082251054) · Magister Teknik Informatika, Universitas Hasanuddin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Calibri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2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29768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Artefak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Lokasi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Isi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Hasil benchmark &amp; ablasi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backend/experiments/results/experiment_&lt;mode&gt;_&lt;model&gt;.run&lt;k&gt;.json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per run: seed, fakta, indikator, verdict, adversarial; multirun_stats_*.md (U, p, Holm, δ, CI)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Korpus aplikatif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data/processed/analysis_jobs.sqlite3 (job 977fdd5a → 5b2017ea)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35 jurnal, 877 chunk, 4 indikator, provenans, korroborasi, kopling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Penambangan gap 3 run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data/processed/gaps_{d4eb6a1d,v3,v4}.jsonl → gaps_union*.jsonl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528 gap union beranotasi run_support; novelty OpenAlex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Instrumen pakar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backend/experiments/expert_eval/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expert_form_forensik.xlsx (4), expert_form_benchmark.xlsx (18), compute_metrics.py (EAR…κ)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Uji &amp; lint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backend/tests (894 uji), flake8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termasuk 35 uji regresi provenans + 4 uji fusi verdict–kalibrasi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Menjalankan ulang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POST /api/analysis-jobs/{id}/reanalyze; python -m experiments.run_multi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job baru dari PDF yang sama dengan kode &amp; LLM terkini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